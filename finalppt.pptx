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2" r:id="rId15"/>
    <p:sldId id="271" r:id="rId16"/>
    <p:sldId id="273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08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Design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/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>
                <a:solidFill>
                  <a:srgbClr val="B22222"/>
                </a:solidFill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65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sz="2000" dirty="0"/>
              <a:t>Presented By:
</a:t>
            </a:r>
            <a:r>
              <a:rPr lang="en-IN" sz="2000" dirty="0"/>
              <a:t>V.NIJAMUDDIN SHAH</a:t>
            </a:r>
            <a:r>
              <a:rPr sz="2000" dirty="0"/>
              <a:t> – VTU2</a:t>
            </a:r>
            <a:r>
              <a:rPr lang="en-IN" sz="2000" dirty="0"/>
              <a:t>6592</a:t>
            </a:r>
            <a:r>
              <a:rPr sz="2000" dirty="0"/>
              <a:t> – </a:t>
            </a:r>
            <a:r>
              <a:rPr sz="2000" dirty="0" err="1"/>
              <a:t>Reg.No</a:t>
            </a:r>
            <a:r>
              <a:rPr sz="2000" dirty="0"/>
              <a:t>.</a:t>
            </a:r>
            <a:r>
              <a:rPr lang="en-IN" sz="2000" dirty="0"/>
              <a:t>23UECS0918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72800" y="7818586"/>
            <a:ext cx="6914603" cy="165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sz="2000" dirty="0"/>
              <a:t>Courses Handling Faculty:
Dr. S. </a:t>
            </a:r>
            <a:r>
              <a:rPr lang="en-IN" sz="2000" dirty="0"/>
              <a:t>HEMAMALINI</a:t>
            </a:r>
            <a:r>
              <a:rPr sz="2000" dirty="0"/>
              <a:t> – Assistant Professor</a:t>
            </a:r>
            <a:r>
              <a:rPr lang="en-IN" sz="2000"/>
              <a:t>(Senior-Grade)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>
                <a:solidFill>
                  <a:srgbClr val="006400"/>
                </a:solidFill>
              </a:rPr>
              <a:t>SDG: SDG 4 – Quality Education | SDG 8 – Decent Work and Economic Growth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514600" y="2678003"/>
            <a:ext cx="1388340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3600" dirty="0"/>
              <a:t>• In today's competitive world, connecting job seekers with suitable employers efficiently is a critical challenge.</a:t>
            </a:r>
          </a:p>
          <a:p>
            <a:pPr algn="just"/>
            <a:r>
              <a:rPr sz="3600" dirty="0"/>
              <a:t>• Traditional methods — newspaper ads, physical applications, walk-in interviews — are slow and difficult to track.</a:t>
            </a:r>
          </a:p>
          <a:p>
            <a:pPr algn="just"/>
            <a:r>
              <a:rPr sz="3600" dirty="0"/>
              <a:t>• The rapid growth of the internet has enabled online job portals that streamline recruitment processes.</a:t>
            </a:r>
          </a:p>
          <a:p>
            <a:pPr algn="just"/>
            <a:r>
              <a:rPr sz="3600" dirty="0"/>
              <a:t>• The Job Portal Management System is a web-based application designed to automate the hiring lifecycle.</a:t>
            </a:r>
          </a:p>
        </p:txBody>
      </p:sp>
      <p:grpSp>
        <p:nvGrpSpPr>
          <p:cNvPr id="6" name="Group 37">
            <a:extLst>
              <a:ext uri="{FF2B5EF4-FFF2-40B4-BE49-F238E27FC236}">
                <a16:creationId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90500" y="42462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54166" y="1831287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2800" dirty="0"/>
              <a:t>• Existing job recruitment processes in academic institutions rely heavily on manual coordination through emails, notice boards, and physical document submissions.</a:t>
            </a:r>
          </a:p>
          <a:p>
            <a:pPr algn="just"/>
            <a:r>
              <a:rPr sz="2800" dirty="0"/>
              <a:t>• This leads to inefficiency in managing large volumes of student applications and employer job postings.</a:t>
            </a:r>
          </a:p>
          <a:p>
            <a:pPr algn="just"/>
            <a:r>
              <a:rPr sz="2800" dirty="0"/>
              <a:t>• Students struggle to find relevant opportunities in one place, while employers face difficulty in tracking and filtering applicants.</a:t>
            </a:r>
          </a:p>
          <a:p>
            <a:pPr algn="just"/>
            <a:r>
              <a:rPr sz="2800" dirty="0"/>
              <a:t>• There is no centralized, role-based system that allows students to build profiles, upload resumes, and track application statuses in real-time.</a:t>
            </a:r>
          </a:p>
          <a:p>
            <a:pPr algn="just"/>
            <a:r>
              <a:rPr sz="2800" dirty="0"/>
              <a:t>• Administrators lack a unified dashboard to monitor platform activity, manage users, and ensure content quality.</a:t>
            </a:r>
          </a:p>
          <a:p>
            <a:pPr algn="just"/>
            <a:r>
              <a:rPr sz="2800" dirty="0"/>
              <a:t>• Commercial platforms like LinkedIn and Naukri are subscription-driven and not suitable for institution-level deployment.</a:t>
            </a:r>
          </a:p>
          <a:p>
            <a:pPr algn="just"/>
            <a:r>
              <a:rPr sz="2800" dirty="0"/>
              <a:t>• There is a need for a simple, reliable, and automated self-hosted job portal tailored for academic environments.</a:t>
            </a:r>
          </a:p>
          <a:p>
            <a:pPr algn="just"/>
            <a:r>
              <a:rPr sz="2800" dirty="0"/>
              <a:t>• This system addresses the gap by offering an open, customizable platform with secure role-based access control.</a:t>
            </a: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743200" y="2254251"/>
            <a:ext cx="1336369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3200" dirty="0"/>
              <a:t>1. Design and develop a fully functional, role-based Job Portal Management System that allows students to register, manage profiles, upload resumes, and apply for jobs.</a:t>
            </a:r>
          </a:p>
          <a:p>
            <a:pPr algn="just"/>
            <a:endParaRPr sz="3200" dirty="0"/>
          </a:p>
          <a:p>
            <a:pPr algn="just"/>
            <a:r>
              <a:rPr sz="3200" dirty="0"/>
              <a:t>2. Enable employers to create company profiles, post job listings, review applicants, and update application statuses (Shortlisted, Hired, Rejected).</a:t>
            </a:r>
          </a:p>
          <a:p>
            <a:pPr algn="just"/>
            <a:endParaRPr sz="3200" dirty="0"/>
          </a:p>
          <a:p>
            <a:pPr algn="just"/>
            <a:r>
              <a:rPr sz="3200" dirty="0"/>
              <a:t>3. Provide an admin dashboard for managing all users, jobs, and applications with the ability to enable/disable accounts and remove inappropriate listings.</a:t>
            </a:r>
          </a:p>
          <a:p>
            <a:pPr algn="just"/>
            <a:endParaRPr sz="3200" dirty="0"/>
          </a:p>
          <a:p>
            <a:pPr algn="just"/>
            <a:r>
              <a:rPr sz="3200" dirty="0"/>
              <a:t>4. Enforce secure, role-based access control using Spring Security with </a:t>
            </a:r>
            <a:r>
              <a:rPr sz="3200" dirty="0" err="1"/>
              <a:t>BCrypt</a:t>
            </a:r>
            <a:r>
              <a:rPr sz="3200" dirty="0"/>
              <a:t> password encoding so each user type sees only relevant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1" y="1638300"/>
            <a:ext cx="14097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2800" dirty="0"/>
              <a:t>• A centralized, role-based web platform built with Spring Boot 3.2.3, </a:t>
            </a:r>
            <a:r>
              <a:rPr sz="2800" dirty="0" err="1"/>
              <a:t>Thymeleaf</a:t>
            </a:r>
            <a:r>
              <a:rPr sz="2800" dirty="0"/>
              <a:t>, Spring Security, and Spring Data JPA.</a:t>
            </a:r>
          </a:p>
          <a:p>
            <a:pPr algn="just"/>
            <a:r>
              <a:rPr sz="2800" dirty="0"/>
              <a:t>• Three distinct user roles: Student, Employer, and Admin — each with dedicated dashboards and secure access.</a:t>
            </a:r>
          </a:p>
          <a:p>
            <a:pPr algn="just"/>
            <a:r>
              <a:rPr sz="2800" dirty="0"/>
              <a:t>• Students can register, build profiles, upload resumes, browse/filter job listings, and track application statuses in real-time.</a:t>
            </a:r>
          </a:p>
          <a:p>
            <a:pPr algn="just"/>
            <a:r>
              <a:rPr sz="2800" dirty="0"/>
              <a:t>• Employers can post new job openings, manage existing listings, review applicants, and update application statuses.</a:t>
            </a:r>
          </a:p>
          <a:p>
            <a:pPr algn="just"/>
            <a:r>
              <a:rPr sz="2800" dirty="0"/>
              <a:t>• Admin panel provides global overview of all users, jobs, and applications with analytics dashboard.</a:t>
            </a:r>
          </a:p>
          <a:p>
            <a:pPr algn="just"/>
            <a:r>
              <a:rPr sz="2800" dirty="0"/>
              <a:t>• Authentication enforced through Spring Security with </a:t>
            </a:r>
            <a:r>
              <a:rPr sz="2800" dirty="0" err="1"/>
              <a:t>BCrypt</a:t>
            </a:r>
            <a:r>
              <a:rPr sz="2800" dirty="0"/>
              <a:t> password encoding and role-based URL access control.</a:t>
            </a:r>
          </a:p>
          <a:p>
            <a:pPr algn="just"/>
            <a:r>
              <a:rPr sz="2800" dirty="0"/>
              <a:t>• Follows MVC architecture ensuring clean separation of concerns across controller, service, repository, and model layers.</a:t>
            </a:r>
          </a:p>
          <a:p>
            <a:pPr algn="just"/>
            <a:r>
              <a:rPr sz="2800" dirty="0"/>
              <a:t>• Self-hosted and customizable — suitable for institution-level or department-level deployment without subscription costs.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F283DDE-1616-62AE-4C34-D40B631B4EC7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277AC33-DE92-DEAD-3684-F9E584FE7CE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56B25065-0B92-DE42-94C2-2ECB8CBB349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0D864E-4D62-6FA7-0DA0-6DAC305EB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020227"/>
            <a:ext cx="11277600" cy="7581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9116291" y="2963193"/>
            <a:ext cx="8640106" cy="4482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2000" b="1" dirty="0"/>
              <a:t>Level 0 DFD: Job Seeker and Employer interact with the Job Portal System. Admin oversees all operations.</a:t>
            </a:r>
          </a:p>
          <a:p>
            <a:pPr algn="just"/>
            <a:endParaRPr sz="2000" b="1" dirty="0"/>
          </a:p>
          <a:p>
            <a:pPr algn="just"/>
            <a:r>
              <a:rPr sz="2000" b="1" dirty="0"/>
              <a:t>Level 1 DFD:</a:t>
            </a:r>
          </a:p>
          <a:p>
            <a:pPr algn="just"/>
            <a:r>
              <a:rPr sz="2000" dirty="0"/>
              <a:t>1. Login Module: User submits credentials → Login Process → Authentication Result → Dashboard Redirect.</a:t>
            </a:r>
          </a:p>
          <a:p>
            <a:pPr algn="just"/>
            <a:r>
              <a:rPr sz="2000" dirty="0"/>
              <a:t>2. User Registration: User submits registration info → User Registration Process → Student/Employer info stored in Database.</a:t>
            </a:r>
          </a:p>
          <a:p>
            <a:pPr algn="just"/>
            <a:r>
              <a:rPr sz="2000" dirty="0"/>
              <a:t>3. Job Management: Employer submits job details → Post Job Process → Job Listings stored in Database → Students browse jobs.</a:t>
            </a:r>
          </a:p>
          <a:p>
            <a:pPr algn="just"/>
            <a:r>
              <a:rPr sz="2000" dirty="0"/>
              <a:t>4. Application Module: Student submits application with cover letter → Apply Process → Application Record stored → Employer updates status.</a:t>
            </a:r>
          </a:p>
          <a:p>
            <a:pPr algn="just"/>
            <a:r>
              <a:rPr sz="2000" dirty="0"/>
              <a:t>5. Admin Control: Admin sends management request → Manage Users/Jobs Process → Status/Results updated in Database.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6F74D79-DF3E-CF85-B828-9B5EB6F81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628" y="1820896"/>
            <a:ext cx="6450220" cy="7285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71228" y="2262636"/>
            <a:ext cx="1508232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1800" b="1" dirty="0">
                <a:solidFill>
                  <a:srgbClr val="003366"/>
                </a:solidFill>
              </a:rPr>
              <a:t>Frontend:</a:t>
            </a:r>
            <a:endParaRPr lang="en-IN" sz="2800" dirty="0"/>
          </a:p>
          <a:p>
            <a:pPr algn="just"/>
            <a:r>
              <a:rPr sz="1800" dirty="0"/>
              <a:t>• </a:t>
            </a:r>
            <a:r>
              <a:rPr sz="1800" dirty="0" err="1"/>
              <a:t>Thymeleaf</a:t>
            </a:r>
            <a:r>
              <a:rPr sz="1800" dirty="0"/>
              <a:t> (Server-side Java template engine for rendering dynamic HTML views)</a:t>
            </a:r>
          </a:p>
          <a:p>
            <a:pPr algn="just"/>
            <a:r>
              <a:rPr sz="1800" dirty="0"/>
              <a:t>• Bootstrap 5 (Responsive CSS framework for UI components: cards, tables, navbars, buttons)</a:t>
            </a:r>
          </a:p>
          <a:p>
            <a:pPr algn="just"/>
            <a:r>
              <a:rPr sz="1800" dirty="0"/>
              <a:t>• HTML5 / CSS3</a:t>
            </a:r>
          </a:p>
          <a:p>
            <a:pPr algn="just"/>
            <a:endParaRPr sz="1800" dirty="0"/>
          </a:p>
          <a:p>
            <a:pPr algn="just"/>
            <a:r>
              <a:rPr sz="1800" b="1" dirty="0">
                <a:solidFill>
                  <a:srgbClr val="003366"/>
                </a:solidFill>
              </a:rPr>
              <a:t>Backend:</a:t>
            </a:r>
          </a:p>
          <a:p>
            <a:pPr algn="just"/>
            <a:r>
              <a:rPr sz="1800" dirty="0"/>
              <a:t>• Spring Boot 3.2.3 (Core backend framework with auto-configuration, embedded Tomcat)</a:t>
            </a:r>
          </a:p>
          <a:p>
            <a:pPr algn="just"/>
            <a:r>
              <a:rPr sz="1800" dirty="0"/>
              <a:t>• Spring Security 6 (Authentication with </a:t>
            </a:r>
            <a:r>
              <a:rPr sz="1800" dirty="0" err="1"/>
              <a:t>BCrypt</a:t>
            </a:r>
            <a:r>
              <a:rPr sz="1800" dirty="0"/>
              <a:t> encoding, role-based URL access control)</a:t>
            </a:r>
          </a:p>
          <a:p>
            <a:pPr algn="just"/>
            <a:r>
              <a:rPr sz="1800" dirty="0"/>
              <a:t>• Spring Data JPA / Hibernate (ORM for database operations, entity mapping, JPQL queries)</a:t>
            </a:r>
          </a:p>
          <a:p>
            <a:pPr algn="just"/>
            <a:r>
              <a:rPr sz="1800" dirty="0"/>
              <a:t>• Java 17 (Programming language with LTS support)</a:t>
            </a:r>
          </a:p>
          <a:p>
            <a:pPr algn="just"/>
            <a:endParaRPr sz="1800" dirty="0"/>
          </a:p>
          <a:p>
            <a:pPr algn="just"/>
            <a:r>
              <a:rPr sz="1800" b="1" dirty="0">
                <a:solidFill>
                  <a:srgbClr val="003366"/>
                </a:solidFill>
              </a:rPr>
              <a:t>Database:</a:t>
            </a:r>
          </a:p>
          <a:p>
            <a:pPr algn="just"/>
            <a:r>
              <a:rPr sz="1800" dirty="0"/>
              <a:t>• H2 In-Memory Database (Lightweight relational DB, auto schema creation, web console access)</a:t>
            </a:r>
          </a:p>
          <a:p>
            <a:pPr algn="just"/>
            <a:endParaRPr sz="1800" dirty="0"/>
          </a:p>
          <a:p>
            <a:pPr algn="just"/>
            <a:r>
              <a:rPr sz="1800" b="1" dirty="0">
                <a:solidFill>
                  <a:srgbClr val="003366"/>
                </a:solidFill>
              </a:rPr>
              <a:t>Third-Party API / Tools:</a:t>
            </a:r>
          </a:p>
          <a:p>
            <a:pPr algn="just"/>
            <a:r>
              <a:rPr sz="1800" dirty="0"/>
              <a:t>• Lombok (Reduces boilerplate code: getters, setters, constructors, builders)</a:t>
            </a:r>
          </a:p>
          <a:p>
            <a:pPr algn="just"/>
            <a:r>
              <a:rPr sz="1800" dirty="0"/>
              <a:t>• Apache Maven (Build automation and dependency management)</a:t>
            </a:r>
          </a:p>
          <a:p>
            <a:pPr algn="just"/>
            <a:r>
              <a:rPr sz="1800" dirty="0"/>
              <a:t>• Spring Mail (SMTP configuration included for future email notifications)</a:t>
            </a:r>
          </a:p>
          <a:p>
            <a:pPr algn="just"/>
            <a:endParaRPr sz="1800" dirty="0"/>
          </a:p>
          <a:p>
            <a:pPr algn="just"/>
            <a:r>
              <a:rPr sz="1800" b="1" dirty="0">
                <a:solidFill>
                  <a:srgbClr val="003366"/>
                </a:solidFill>
              </a:rPr>
              <a:t>Hardware/Software Requirements:</a:t>
            </a:r>
          </a:p>
          <a:p>
            <a:pPr algn="just"/>
            <a:r>
              <a:rPr sz="1800" dirty="0"/>
              <a:t>• JDK 17+, Apache Maven 3.8+, IDE (IntelliJ/Eclipse), Web Browser, 4GB RAM minimum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2315290"/>
            <a:ext cx="1393014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1800" b="1" dirty="0">
                <a:solidFill>
                  <a:srgbClr val="003366"/>
                </a:solidFill>
              </a:rPr>
              <a:t>Module 1: User Authentication and Registration</a:t>
            </a:r>
          </a:p>
          <a:p>
            <a:pPr algn="just"/>
            <a:r>
              <a:rPr sz="1800" dirty="0"/>
              <a:t>Handles user registration (Student/Employer), secure login with </a:t>
            </a:r>
            <a:r>
              <a:rPr sz="1800" dirty="0" err="1"/>
              <a:t>BCrypt</a:t>
            </a:r>
            <a:r>
              <a:rPr sz="1800" dirty="0"/>
              <a:t> password encoding, role-based redirection after login, and account enable/disable functionality.</a:t>
            </a:r>
          </a:p>
          <a:p>
            <a:pPr algn="just"/>
            <a:endParaRPr sz="1800" dirty="0"/>
          </a:p>
          <a:p>
            <a:pPr algn="just"/>
            <a:r>
              <a:rPr sz="1800" b="1" dirty="0">
                <a:solidFill>
                  <a:srgbClr val="003366"/>
                </a:solidFill>
              </a:rPr>
              <a:t>Module 2: Job and Application Management</a:t>
            </a:r>
          </a:p>
          <a:p>
            <a:pPr algn="just"/>
            <a:r>
              <a:rPr sz="1800" dirty="0"/>
              <a:t>Employers can create, view, update, and delete job postings. Students can browse, search, and filter jobs by category, location, and experience. Application submission with cover letters and duplicate-application prevention.</a:t>
            </a:r>
          </a:p>
          <a:p>
            <a:pPr algn="just"/>
            <a:endParaRPr sz="1800" dirty="0"/>
          </a:p>
          <a:p>
            <a:pPr algn="just"/>
            <a:r>
              <a:rPr sz="1800" b="1" dirty="0">
                <a:solidFill>
                  <a:srgbClr val="003366"/>
                </a:solidFill>
              </a:rPr>
              <a:t>Module 3: Admin Control Panel</a:t>
            </a:r>
          </a:p>
          <a:p>
            <a:pPr algn="just"/>
            <a:r>
              <a:rPr sz="1800" dirty="0"/>
              <a:t>Provides comprehensive management interface with analytics dashboard showing total students, employers, jobs, and applications. Admin can view all users, toggle account status, and delete inappropriate job listings.</a:t>
            </a:r>
          </a:p>
          <a:p>
            <a:pPr algn="just"/>
            <a:endParaRPr sz="1800" dirty="0"/>
          </a:p>
          <a:p>
            <a:pPr algn="just"/>
            <a:r>
              <a:rPr sz="1800" b="1" dirty="0">
                <a:solidFill>
                  <a:srgbClr val="003366"/>
                </a:solidFill>
              </a:rPr>
              <a:t>Module 4: Profile Management</a:t>
            </a:r>
          </a:p>
          <a:p>
            <a:pPr algn="just"/>
            <a:r>
              <a:rPr sz="1800" dirty="0"/>
              <a:t>Students can update personal details, skills, education, experience, and upload resumes. Employers can update company profiles with name, description, industry, and website.</a:t>
            </a:r>
          </a:p>
          <a:p>
            <a:pPr algn="just"/>
            <a:endParaRPr sz="1800" dirty="0"/>
          </a:p>
          <a:p>
            <a:pPr algn="just"/>
            <a:r>
              <a:rPr sz="1800" b="1" dirty="0">
                <a:solidFill>
                  <a:srgbClr val="003366"/>
                </a:solidFill>
              </a:rPr>
              <a:t>Module 5: Application Status Tracking</a:t>
            </a:r>
          </a:p>
          <a:p>
            <a:pPr algn="just"/>
            <a:r>
              <a:rPr sz="1800" dirty="0"/>
              <a:t>Real-time tracking of application statuses: Applied (system-set), Under Review, Shortlisted, Rejected, Hired (employer-updated). Students view status changes; employers manage applicants with remarks.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86EA90-B8BF-A58F-6C0A-2E46446B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206" y="1728956"/>
            <a:ext cx="13931587" cy="724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3016ED-889A-986E-C557-4E8B0DC94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560" y="2292351"/>
            <a:ext cx="12610044" cy="601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692DFD-6E98-89D6-2A9C-89F636006C8F}"/>
              </a:ext>
            </a:extLst>
          </p:cNvPr>
          <p:cNvCxnSpPr/>
          <p:nvPr/>
        </p:nvCxnSpPr>
        <p:spPr>
          <a:xfrm>
            <a:off x="10058400" y="1609688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D5B09C9-3BA6-C4B3-AF4D-4CD30B11B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463" y="3107458"/>
            <a:ext cx="8027411" cy="415802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5F94062-68A6-829F-DF1E-5EBB5AC4E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0" y="1747637"/>
            <a:ext cx="3428997" cy="830997"/>
          </a:xfrm>
        </p:spPr>
        <p:txBody>
          <a:bodyPr>
            <a:normAutofit fontScale="90000"/>
          </a:bodyPr>
          <a:lstStyle/>
          <a:p>
            <a:r>
              <a:rPr lang="en-US" dirty="0"/>
              <a:t>Admin Portal</a:t>
            </a:r>
            <a:endParaRPr lang="en-IN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0774EF0E-B9B8-1256-E962-BB4E0EA3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927" y="3107458"/>
            <a:ext cx="7965320" cy="4138314"/>
          </a:xfrm>
          <a:prstGeom prst="rect">
            <a:avLst/>
          </a:prstGeom>
        </p:spPr>
      </p:pic>
      <p:sp>
        <p:nvSpPr>
          <p:cNvPr id="40" name="Title 5">
            <a:extLst>
              <a:ext uri="{FF2B5EF4-FFF2-40B4-BE49-F238E27FC236}">
                <a16:creationId xmlns:a16="http://schemas.microsoft.com/office/drawing/2014/main" id="{BED4FEFD-D4D2-2886-6412-A6E7BF64B0EF}"/>
              </a:ext>
            </a:extLst>
          </p:cNvPr>
          <p:cNvSpPr txBox="1">
            <a:spLocks/>
          </p:cNvSpPr>
          <p:nvPr/>
        </p:nvSpPr>
        <p:spPr>
          <a:xfrm>
            <a:off x="12510047" y="1747637"/>
            <a:ext cx="4145259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EmPLoyer</a:t>
            </a:r>
            <a:r>
              <a:rPr lang="en-US" dirty="0"/>
              <a:t> Portal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C2E146-2D43-D294-3D40-5706FDCBF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095" y="2217949"/>
            <a:ext cx="12112313" cy="626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0B810C-28C2-16A3-0D8D-AFB38A87A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648" y="1764502"/>
            <a:ext cx="13864913" cy="71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07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12766-6448-4A68-D84C-19576DECE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643" y="2162151"/>
            <a:ext cx="13648781" cy="648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87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DA9535A-AF12-0C77-A819-68E316B95B0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B3566A7-7E62-ED9D-5F2B-3D6E59417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966596B-4DE4-21F6-F8EB-0B1F9C6C8A9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4CC6DFF-6FEB-8F4B-CAF5-E76C7611A2E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76826F-2D15-70E2-C88C-20EF527BE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204" y="1812394"/>
            <a:ext cx="13483913" cy="70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51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48077" y="450792"/>
            <a:ext cx="161229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800" b="1" dirty="0"/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B86C92-4231-B088-0066-D8CA8F664C0F}"/>
              </a:ext>
            </a:extLst>
          </p:cNvPr>
          <p:cNvSpPr txBox="1"/>
          <p:nvPr/>
        </p:nvSpPr>
        <p:spPr>
          <a:xfrm>
            <a:off x="2171152" y="1982349"/>
            <a:ext cx="14099845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4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ADVANTAGES: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a) Centralized Platform: All recruitment activities — job posting, browsing, applying, and status tracking — on a single web platform.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b) Role-Based Access Control: Each user type (Student, Employer, Admin) has a distinct, secure view ensuring data privacy.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c) Resume Management: Students upload and maintain resumes; each application auto-attaches the latest resume.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d) Real-Time Application Tracking: Students track exact status (Applied, Shortlisted, Rejected, Hired); employers get organized applicant lists.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e) Scalable Architecture: Layered MVC with clean separation between controllers, services, and repositories makes the codebase maintainable.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2222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LIMITATIONS: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In-Memory Database: H2 with create-drop mode means all data is lost on application restart. Production requires MySQL or PostgreSQL.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No Email Notifications: Spring Mail is configured but automated emails (application confirmation, status updates) are not yet implemented.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No Pagination: Job listings and application lists load entirely without pagination, affecting performance at scale.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Single-Server Deployment: Current architecture does not support horizontal scaling or distributed deployment.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9723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sz="4400" b="1" dirty="0">
                <a:solidFill>
                  <a:srgbClr val="003366"/>
                </a:solidFill>
              </a:rPr>
              <a:t>Thank you</a:t>
            </a:r>
          </a:p>
          <a:p>
            <a:pPr algn="ctr"/>
            <a:endParaRPr sz="4400" b="1" dirty="0">
              <a:solidFill>
                <a:srgbClr val="003366"/>
              </a:solidFill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1515</Words>
  <Application>Microsoft Office PowerPoint</Application>
  <PresentationFormat>Custom</PresentationFormat>
  <Paragraphs>297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Times New Roman</vt:lpstr>
      <vt:lpstr>Bookman Old Style</vt:lpstr>
      <vt:lpstr>Calibri</vt:lpstr>
      <vt:lpstr>Gotham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Admin Portal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Allwin Aji</dc:creator>
  <cp:lastModifiedBy>Nasaruddin Venuturla</cp:lastModifiedBy>
  <cp:revision>18</cp:revision>
  <dcterms:created xsi:type="dcterms:W3CDTF">2006-08-16T00:00:00Z</dcterms:created>
  <dcterms:modified xsi:type="dcterms:W3CDTF">2026-05-06T04:10:57Z</dcterms:modified>
  <dc:identifier>DAHCaYqJ9OU</dc:identifier>
</cp:coreProperties>
</file>